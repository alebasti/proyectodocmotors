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506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0297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27729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155161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0789920" y="146304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1338560" y="210312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966960" y="182880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1795760" y="283464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0515600" y="329184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9418320" y="109728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064240" y="822960"/>
            <a:ext cx="54864" cy="54864"/>
          </a:xfrm>
          <a:prstGeom prst="ellipse">
            <a:avLst/>
          </a:prstGeom>
          <a:solidFill>
            <a:srgbClr val="E76F51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0" descr="icons/wre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457200" cy="457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48640" y="416052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 txBox="1"/>
          <p:nvPr/>
        </p:nvSpPr>
        <p:spPr>
          <a:xfrm>
            <a:off x="914400" y="4434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DocMotors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5212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inteligente de cotizaciones, supervisión y clientes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talleres mecánicos automotrices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452360" y="4526280"/>
            <a:ext cx="0" cy="146304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77266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4800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Espinoza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Cortez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— Sede Viña del 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Origen y Lugar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nace de un problema real detectado en un taller mecánico automotriz, y busca convertirse en la herramienta de gestión diaria de su equipo de trabajo.</a:t>
            </a:r>
            <a:endParaRPr lang="en-US" sz="1300" dirty="0"/>
          </a:p>
        </p:txBody>
      </p:sp>
      <p:pic>
        <p:nvPicPr>
          <p:cNvPr id="5" name="Image 0" descr="/home/claude/pdf_images/p1_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1508760"/>
            <a:ext cx="4663440" cy="2624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508760"/>
            <a:ext cx="4663440" cy="2624328"/>
          </a:xfrm>
          <a:prstGeom prst="roundRect">
            <a:avLst>
              <a:gd name="adj" fmla="val 2091"/>
            </a:avLst>
          </a:prstGeom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 txBox="1"/>
          <p:nvPr/>
        </p:nvSpPr>
        <p:spPr>
          <a:xfrm>
            <a:off x="6949440" y="41696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mecánico — Quilpué, Valparaíso</a:t>
            </a:r>
            <a:endParaRPr lang="en-US" sz="900" dirty="0"/>
          </a:p>
        </p:txBody>
      </p:sp>
      <p:pic>
        <p:nvPicPr>
          <p:cNvPr id="8" name="Image 1" descr="icons/mapPi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520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taller está ubicado en Quilpué, Valparaíso, un sector concurrido y rodeado de comercio, con alta afluencia de clientes.</a:t>
            </a:r>
            <a:endParaRPr lang="en-US" sz="1050" dirty="0"/>
          </a:p>
        </p:txBody>
      </p:sp>
      <p:pic>
        <p:nvPicPr>
          <p:cNvPr id="11" name="Image 2" descr="icons/building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269748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5176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del proyecto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2651760" y="3520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nuevo, motivado por la necesidad de reemplazar la gestión manual del negocio por una plataforma semiautomatizada.</a:t>
            </a:r>
            <a:endParaRPr lang="en-US" sz="1050" dirty="0"/>
          </a:p>
        </p:txBody>
      </p:sp>
      <p:pic>
        <p:nvPicPr>
          <p:cNvPr id="14" name="Image 3" descr="icons/users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6974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54880" y="3200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directos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754880" y="35204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trabajadores y el dueño del taller, quienes hoy concentran la cotización, supervisión y seguimiento de cada cliente.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de gestión semiautomatizada para el taller mecánico automotriz que optimice los procesos de cotización, supervisión y seguimiento de clientes mediante la incorporación de agentes 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0" descr="icons/clipboard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44368"/>
            <a:ext cx="283464" cy="28346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Levantar requisitos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813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visitas y entrevistas al taller.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2606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480560" y="2834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1" descr="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94436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Analizar el flujo actual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480560" y="3813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trabajo y gestión para identificar el problema real.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55280" y="26060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183880" y="28346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icons/layoutGri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94436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83880" y="3447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Diseñar arquitectura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381304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 y el modelo de datos.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754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77724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3" descr="icons/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093208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77240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Implementar agente IA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9618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apoye la gestión comercial.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251960" y="4754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448056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9" name="Image 4" descr="icons/pack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5093208"/>
            <a:ext cx="283464" cy="28346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480560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Construir MVP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480560" y="59618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integre todos los módulos.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955280" y="4754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6"/>
          <p:cNvSpPr/>
          <p:nvPr/>
        </p:nvSpPr>
        <p:spPr>
          <a:xfrm>
            <a:off x="8183880" y="4983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4" name="Image 5" descr="icons/checkCirc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5093208"/>
            <a:ext cx="283464" cy="28346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183880" y="5596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Validar el sistema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8183880" y="59618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funcionamiento con los usuarios del taller.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Usuarios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manuales y la falta de una plataforma centralizada generan ineficiencias en la gestión diaria del taller. DocMotors busca cerrar esa brecha optimizando la cotización, supervisión y seguimiento de clientes.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icons/alertTrian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2258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actual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786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taller depende de una persona fija que coordina cotizaciones, supervisión y seguimiento de forma manual, sin un sistema que centralice la información.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216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557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objetivo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38770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Trabajadores y dueño del taller mecánico de Quilpué, quienes usarán la plataforma en su operación diaria.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8289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200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48554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actual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325880" y="5175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de cotización y seguimiento de clientes se llevan de forma manual, dificultando supervisar en tiempo real el estado de cada vehículo.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INTELIGENTE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del Agente de 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 IA apoya la gestión comercial del taller, integrado directamente al flujo de cotización y seguimiento de clientes definido en la plataforma.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icons/b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4871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3774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agente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1752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Asistir en la generación de cotizaciones y en la comunicación con clientes, apoyando la gestión comercial del negocio.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3008" y="214884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61608" y="2377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336" y="24871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01688" y="237744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de datos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301752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clientes, vehículos, historial de servicios y fase actual de cada caso, almacenada en la base de datos del sistema.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16052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77240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icons/workfl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9884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438912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02920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interpreta la solicitud, consulta el estado del negocio y entrega respuestas o cotizaciones sugeridas según reglas y datos reales del taller.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33008" y="4160520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6461608" y="4389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3" descr="icons/trendingU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336" y="449884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01688" y="438912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502920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dependencia de una persona fija en la gestión, liberando tiempo del dueño y agilizando la atención al cliente.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TÉCNICA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preliminar de arquitectura, a validar según el presupuesto y las herramientas de IA disponibles con nivel gratuito.</a:t>
            </a:r>
            <a:endParaRPr lang="en-US" sz="1150" dirty="0"/>
          </a:p>
        </p:txBody>
      </p:sp>
      <p:pic>
        <p:nvPicPr>
          <p:cNvPr id="5" name="Image 0" descr="icons/monitor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313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Interfaz web para trabajadores del taller</a:t>
            </a:r>
            <a:endParaRPr lang="en-US" sz="1100" dirty="0"/>
          </a:p>
        </p:txBody>
      </p:sp>
      <p:pic>
        <p:nvPicPr>
          <p:cNvPr id="7" name="Image 1" descr="icons/server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0584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— Lógica de cotización, supervisión y fases</a:t>
            </a:r>
            <a:endParaRPr lang="en-US" sz="1100" dirty="0"/>
          </a:p>
        </p:txBody>
      </p:sp>
      <p:pic>
        <p:nvPicPr>
          <p:cNvPr id="9" name="Image 2" descr="icons/databas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0332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" y="36850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Clientes, vehículos y estado de cada caso</a:t>
            </a:r>
            <a:endParaRPr lang="en-US" sz="1100" dirty="0"/>
          </a:p>
        </p:txBody>
      </p:sp>
      <p:pic>
        <p:nvPicPr>
          <p:cNvPr id="11" name="Image 3" descr="icons/cloud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891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05840" y="4370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— Conectado a una API de modelo de lenguaje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669280" y="26060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8"/>
          <p:cNvSpPr txBox="1"/>
          <p:nvPr/>
        </p:nvSpPr>
        <p:spPr>
          <a:xfrm>
            <a:off x="5760720" y="26791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5760720" y="2971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7772400" y="2240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1"/>
          <p:cNvSpPr txBox="1"/>
          <p:nvPr/>
        </p:nvSpPr>
        <p:spPr>
          <a:xfrm>
            <a:off x="7863840" y="2313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78638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Cotización, fases y clientes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7772400" y="34290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4"/>
          <p:cNvSpPr txBox="1"/>
          <p:nvPr/>
        </p:nvSpPr>
        <p:spPr>
          <a:xfrm>
            <a:off x="7863840" y="3502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3794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comercial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9875520" y="224028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7"/>
          <p:cNvSpPr txBox="1"/>
          <p:nvPr/>
        </p:nvSpPr>
        <p:spPr>
          <a:xfrm>
            <a:off x="9966960" y="2313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9669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9875520" y="34290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 txBox="1"/>
          <p:nvPr/>
        </p:nvSpPr>
        <p:spPr>
          <a:xfrm>
            <a:off x="9966960" y="35021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LLM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966960" y="37947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lenguaje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543800" y="2880360"/>
            <a:ext cx="228600" cy="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3"/>
          <p:cNvSpPr/>
          <p:nvPr/>
        </p:nvSpPr>
        <p:spPr>
          <a:xfrm>
            <a:off x="7543800" y="2971800"/>
            <a:ext cx="228600" cy="73152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4"/>
          <p:cNvSpPr/>
          <p:nvPr/>
        </p:nvSpPr>
        <p:spPr>
          <a:xfrm>
            <a:off x="9646920" y="2624328"/>
            <a:ext cx="228600" cy="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5"/>
          <p:cNvSpPr/>
          <p:nvPr/>
        </p:nvSpPr>
        <p:spPr>
          <a:xfrm>
            <a:off x="9646920" y="3813048"/>
            <a:ext cx="228600" cy="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6"/>
          <p:cNvSpPr txBox="1"/>
          <p:nvPr/>
        </p:nvSpPr>
        <p:spPr>
          <a:xfrm>
            <a:off x="5669280" y="43434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entre módulos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TRABAJAREMOS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Desarrollo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utilizará la metodología Scrum, complementada con técnicas de ingeniería de requisitos en la fase inicial de levantamiento de información en el taller.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2154" cy="2926080"/>
          </a:xfrm>
          <a:prstGeom prst="roundRect">
            <a:avLst>
              <a:gd name="adj" fmla="val 28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575397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icons/clipboardLi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269" y="27706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85034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requisitos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06908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y entrevistas al taller para observar el flujo de trabajo y los métodos de gestión actuales.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79394" y="2377440"/>
            <a:ext cx="2602154" cy="2926080"/>
          </a:xfrm>
          <a:prstGeom prst="roundRect">
            <a:avLst>
              <a:gd name="adj" fmla="val 28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406151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icons/layoutGri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23" y="277063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15788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62274" y="34290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3562274" y="406908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modelo de datos, arquitectura del sistema y lógica del agente de IA.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0148" y="2377440"/>
            <a:ext cx="2602154" cy="2926080"/>
          </a:xfrm>
          <a:prstGeom prst="roundRect">
            <a:avLst>
              <a:gd name="adj" fmla="val 28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7236905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icons/refre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5777" y="277063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46541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93028" y="34290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iterativo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393028" y="406908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a 3 semanas con entregables, validando avances con los usuarios del taller.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40901" y="2377440"/>
            <a:ext cx="2602154" cy="2926080"/>
          </a:xfrm>
          <a:prstGeom prst="roundRect">
            <a:avLst>
              <a:gd name="adj" fmla="val 28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10067658" y="26517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3" descr="icons/checkCir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6530" y="2770632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277295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223781" y="3429000"/>
            <a:ext cx="22363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entrega del MVP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223781" y="4069080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técnica y de usuario, con entrega de un producto mínimo viable documentado.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del Equipo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2 integrantes con roles complementarios, coordinados de forma conjunta en la relación con el taller y en las decisiones del proyecto.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1004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icons/crow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6151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487168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Espinoza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16352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proyecto · Backend y Agentes IA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3375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general, levantamiento de requisitos, diseño e implementación del agente de IA y la lógica de negocio del sistema.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33008" y="2194560"/>
            <a:ext cx="5410048" cy="228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507328" y="24688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icons/palet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26151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30288" y="2487168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Cortez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330288" y="2816352"/>
            <a:ext cx="403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Análisis de Datos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507328" y="33375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interfaz para los trabajadores del taller y análisis de datos para la gestión y reportes del negocio.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2" descr="icons/handsh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9204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4754880"/>
            <a:ext cx="10271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integrantes participan de forma conjunta en las visitas al taller, la comunicación con los usuarios finales, las pruebas del sistema y la documentación del proyecto.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y Carta Gantt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las 10 actividades del plan de trabajo (18 semanas) en las tres fases de la asignatura de Portafolio de Título.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icons/search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00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31343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S1 – S4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15768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6324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al taller, entrevistas, análisis del flujo de trabajo, diseño de arquitectura y del agente IA.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07738" y="214884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1B263B"/>
          </a:solidFill>
          <a:ln w="12700">
            <a:solidFill>
              <a:srgbClr val="1B26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icons/refre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338" y="23500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47818" y="231343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S5 – S14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536338" y="2715768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36338" y="306324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cotización, Sprint 2 supervisión y fases del cliente, Sprint 3 integración del agente IA.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66837" y="2148840"/>
            <a:ext cx="3576218" cy="1737360"/>
          </a:xfrm>
          <a:prstGeom prst="roundRect">
            <a:avLst>
              <a:gd name="adj" fmla="val 4211"/>
            </a:avLst>
          </a:prstGeom>
          <a:solidFill>
            <a:srgbClr val="F7F8FA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icons/checkCircle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437" y="23500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06917" y="2313432"/>
            <a:ext cx="2753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S15 – S18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295437" y="2715768"/>
            <a:ext cx="31190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295437" y="3063240"/>
            <a:ext cx="31190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técnicas y de usuario, documentación y entrega final del MVP.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160520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al taller mecánico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566160" y="4201668"/>
            <a:ext cx="430428" cy="141732"/>
          </a:xfrm>
          <a:prstGeom prst="roundRect">
            <a:avLst>
              <a:gd name="adj" fmla="val 19355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 txBox="1"/>
          <p:nvPr/>
        </p:nvSpPr>
        <p:spPr>
          <a:xfrm>
            <a:off x="548640" y="4384548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y levantamiento de requisitos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014876" y="4425696"/>
            <a:ext cx="430428" cy="141732"/>
          </a:xfrm>
          <a:prstGeom prst="roundRect">
            <a:avLst>
              <a:gd name="adj" fmla="val 19355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 txBox="1"/>
          <p:nvPr/>
        </p:nvSpPr>
        <p:spPr>
          <a:xfrm>
            <a:off x="548640" y="4608576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flujo de trabajo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463593" y="4649724"/>
            <a:ext cx="430428" cy="141732"/>
          </a:xfrm>
          <a:prstGeom prst="roundRect">
            <a:avLst>
              <a:gd name="adj" fmla="val 19355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 txBox="1"/>
          <p:nvPr/>
        </p:nvSpPr>
        <p:spPr>
          <a:xfrm>
            <a:off x="548640" y="4832604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y modelo de datos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4912309" y="4873752"/>
            <a:ext cx="430428" cy="141732"/>
          </a:xfrm>
          <a:prstGeom prst="roundRect">
            <a:avLst>
              <a:gd name="adj" fmla="val 19355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 txBox="1"/>
          <p:nvPr/>
        </p:nvSpPr>
        <p:spPr>
          <a:xfrm>
            <a:off x="548640" y="5056632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agentes de IA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5361026" y="5097780"/>
            <a:ext cx="430428" cy="141732"/>
          </a:xfrm>
          <a:prstGeom prst="roundRect">
            <a:avLst>
              <a:gd name="adj" fmla="val 19355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5"/>
          <p:cNvSpPr txBox="1"/>
          <p:nvPr/>
        </p:nvSpPr>
        <p:spPr>
          <a:xfrm>
            <a:off x="548640" y="5280660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– Módulo de cotización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5809742" y="5321808"/>
            <a:ext cx="1327861" cy="141732"/>
          </a:xfrm>
          <a:prstGeom prst="roundRect">
            <a:avLst>
              <a:gd name="adj" fmla="val 19355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7"/>
          <p:cNvSpPr txBox="1"/>
          <p:nvPr/>
        </p:nvSpPr>
        <p:spPr>
          <a:xfrm>
            <a:off x="548640" y="5504688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– Supervisión y fases del cliente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155891" y="5545836"/>
            <a:ext cx="1327861" cy="141732"/>
          </a:xfrm>
          <a:prstGeom prst="roundRect">
            <a:avLst>
              <a:gd name="adj" fmla="val 19355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29"/>
          <p:cNvSpPr txBox="1"/>
          <p:nvPr/>
        </p:nvSpPr>
        <p:spPr>
          <a:xfrm>
            <a:off x="548640" y="5728716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– Integración de agentes IA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8502040" y="5769864"/>
            <a:ext cx="1327861" cy="141732"/>
          </a:xfrm>
          <a:prstGeom prst="roundRect">
            <a:avLst>
              <a:gd name="adj" fmla="val 19355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1"/>
          <p:cNvSpPr txBox="1"/>
          <p:nvPr/>
        </p:nvSpPr>
        <p:spPr>
          <a:xfrm>
            <a:off x="548640" y="5952744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técnicas y de usuario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9848190" y="5993892"/>
            <a:ext cx="879145" cy="141732"/>
          </a:xfrm>
          <a:prstGeom prst="roundRect">
            <a:avLst>
              <a:gd name="adj" fmla="val 19355"/>
            </a:avLst>
          </a:prstGeom>
          <a:solidFill>
            <a:srgbClr val="415A7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3"/>
          <p:cNvSpPr txBox="1"/>
          <p:nvPr/>
        </p:nvSpPr>
        <p:spPr>
          <a:xfrm>
            <a:off x="548640" y="6176772"/>
            <a:ext cx="292608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cierre del proyecto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10745622" y="6217920"/>
            <a:ext cx="879145" cy="141732"/>
          </a:xfrm>
          <a:prstGeom prst="roundRect">
            <a:avLst>
              <a:gd name="adj" fmla="val 19355"/>
            </a:avLst>
          </a:prstGeom>
          <a:solidFill>
            <a:srgbClr val="415A7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5"/>
          <p:cNvSpPr/>
          <p:nvPr/>
        </p:nvSpPr>
        <p:spPr>
          <a:xfrm>
            <a:off x="3566160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6"/>
          <p:cNvSpPr/>
          <p:nvPr/>
        </p:nvSpPr>
        <p:spPr>
          <a:xfrm>
            <a:off x="4463593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37"/>
          <p:cNvSpPr/>
          <p:nvPr/>
        </p:nvSpPr>
        <p:spPr>
          <a:xfrm>
            <a:off x="5361026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38"/>
          <p:cNvSpPr/>
          <p:nvPr/>
        </p:nvSpPr>
        <p:spPr>
          <a:xfrm>
            <a:off x="6258458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39"/>
          <p:cNvSpPr/>
          <p:nvPr/>
        </p:nvSpPr>
        <p:spPr>
          <a:xfrm>
            <a:off x="7155891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0"/>
          <p:cNvSpPr/>
          <p:nvPr/>
        </p:nvSpPr>
        <p:spPr>
          <a:xfrm>
            <a:off x="8053324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1"/>
          <p:cNvSpPr/>
          <p:nvPr/>
        </p:nvSpPr>
        <p:spPr>
          <a:xfrm>
            <a:off x="8950757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2"/>
          <p:cNvSpPr/>
          <p:nvPr/>
        </p:nvSpPr>
        <p:spPr>
          <a:xfrm>
            <a:off x="9848190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3"/>
          <p:cNvSpPr/>
          <p:nvPr/>
        </p:nvSpPr>
        <p:spPr>
          <a:xfrm>
            <a:off x="10745622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4"/>
          <p:cNvSpPr/>
          <p:nvPr/>
        </p:nvSpPr>
        <p:spPr>
          <a:xfrm>
            <a:off x="11643055" y="4114800"/>
            <a:ext cx="0" cy="2286000"/>
          </a:xfrm>
          <a:prstGeom prst="line">
            <a:avLst/>
          </a:prstGeom>
          <a:noFill/>
          <a:ln w="6350">
            <a:solidFill>
              <a:srgbClr val="ECEEF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wren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484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DOCMOTORS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1100297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127729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1551615" y="457200"/>
            <a:ext cx="201168" cy="20116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914400" y="4434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y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577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Estamos listos para responder sus preguntas.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0880" y="4526280"/>
            <a:ext cx="0" cy="1463040"/>
          </a:xfrm>
          <a:prstGeom prst="line">
            <a:avLst/>
          </a:prstGeom>
          <a:noFill/>
          <a:ln w="12700">
            <a:solidFill>
              <a:srgbClr val="D9DE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icons/github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26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b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alebasti</a:t>
            </a: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400" b="1" dirty="0" err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ProyectoDocMotors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5257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(Actualiza este enlace con tu repositorio real)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Macintosh PowerPoint</Application>
  <PresentationFormat>Panorámica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Alejandro Espinoza Guzmán</cp:lastModifiedBy>
  <cp:revision>2</cp:revision>
  <dcterms:created xsi:type="dcterms:W3CDTF">2026-09-07T02:26:59Z</dcterms:created>
  <dcterms:modified xsi:type="dcterms:W3CDTF">2026-09-23T00:09:33Z</dcterms:modified>
</cp:coreProperties>
</file>